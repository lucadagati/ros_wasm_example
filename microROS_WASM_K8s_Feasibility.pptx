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Operational Technology on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/>
            </a:pPr>
            <a:r>
              <a:t>OT Infrastructure</a:t>
            </a:r>
          </a:p>
          <a:p>
            <a:pPr>
              <a:spcAft>
                <a:spcPts val="400"/>
              </a:spcAft>
              <a:defRPr sz="1600"/>
            </a:pPr>
            <a:r>
              <a:t>• Industrial control systems</a:t>
            </a:r>
          </a:p>
          <a:p>
            <a:pPr>
              <a:spcAft>
                <a:spcPts val="400"/>
              </a:spcAft>
              <a:defRPr sz="1600"/>
            </a:pPr>
            <a:r>
              <a:t>• Real-time data processing</a:t>
            </a:r>
          </a:p>
          <a:p>
            <a:pPr>
              <a:spcAft>
                <a:spcPts val="1600"/>
              </a:spcAft>
              <a:defRPr sz="1600"/>
            </a:pPr>
            <a:r>
              <a:t>• Distributed sensor networks</a:t>
            </a:r>
          </a:p>
          <a:p>
            <a:pPr>
              <a:spcAft>
                <a:spcPts val="1000"/>
              </a:spcAft>
              <a:defRPr sz="2200" b="1"/>
            </a:pPr>
            <a:r>
              <a:t>Kubernetes Orchestration</a:t>
            </a:r>
          </a:p>
          <a:p>
            <a:pPr>
              <a:spcAft>
                <a:spcPts val="400"/>
              </a:spcAft>
              <a:defRPr sz="1600"/>
            </a:pPr>
            <a:r>
              <a:t>• Container orchestration</a:t>
            </a:r>
          </a:p>
          <a:p>
            <a:pPr>
              <a:spcAft>
                <a:spcPts val="400"/>
              </a:spcAft>
              <a:defRPr sz="1600"/>
            </a:pPr>
            <a:r>
              <a:t>• Scalable microservices</a:t>
            </a:r>
          </a:p>
          <a:p>
            <a:pPr>
              <a:defRPr sz="1600"/>
            </a:pPr>
            <a:r>
              <a:t>• High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33"/>
                </a:solidFill>
              </a:defRPr>
            </a:pPr>
            <a:r>
              <a:t>Project Goal</a:t>
            </a:r>
          </a:p>
          <a:p>
            <a:pPr>
              <a:spcAft>
                <a:spcPts val="1600"/>
              </a:spcAft>
              <a:defRPr sz="1800" b="1"/>
            </a:pPr>
            <a:r>
              <a:t>Run microROS inside WebAssembly runtime</a:t>
            </a:r>
          </a:p>
          <a:p>
            <a:pPr>
              <a:spcAft>
                <a:spcPts val="1000"/>
              </a:spcAft>
              <a:defRPr sz="2000" b="1"/>
            </a:pPr>
            <a:r>
              <a:t>Key Benefits</a:t>
            </a:r>
          </a:p>
          <a:p>
            <a:pPr>
              <a:spcAft>
                <a:spcPts val="600"/>
              </a:spcAft>
              <a:defRPr sz="1600"/>
            </a:pPr>
            <a:r>
              <a:t>✓ Lightweight &amp; Portable</a:t>
            </a:r>
          </a:p>
          <a:p>
            <a:pPr>
              <a:spcAft>
                <a:spcPts val="600"/>
              </a:spcAft>
              <a:defRPr sz="1600"/>
            </a:pPr>
            <a:r>
              <a:t>✓ Secure sandbox</a:t>
            </a:r>
          </a:p>
          <a:p>
            <a:pPr>
              <a:spcAft>
                <a:spcPts val="600"/>
              </a:spcAft>
              <a:defRPr sz="1600"/>
            </a:pPr>
            <a:r>
              <a:t>✓ Near-native performance</a:t>
            </a:r>
          </a:p>
          <a:p>
            <a:pPr>
              <a:defRPr sz="1600"/>
            </a:pPr>
            <a:r>
              <a:t>✓ K8s orchestration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Communication Flow &amp; Kubernetes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914400" cy="36576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Publisher</a:t>
            </a:r>
          </a:p>
          <a:p>
            <a:r>
              <a:t>WASM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JavaScript</a:t>
            </a:r>
          </a:p>
          <a:p>
            <a:r>
              <a:t>(Publisher)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914400" cy="365760"/>
          </a:xfrm>
          <a:prstGeom prst="rect">
            <a:avLst/>
          </a:prstGeom>
          <a:solidFill>
            <a:srgbClr val="FFC10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ROS</a:t>
            </a:r>
          </a:p>
          <a:p>
            <a:r>
              <a:t>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914400" cy="365760"/>
          </a:xfrm>
          <a:prstGeom prst="rect">
            <a:avLst/>
          </a:prstGeom>
          <a:solidFill>
            <a:srgbClr val="9C27B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ROS2</a:t>
            </a:r>
          </a:p>
          <a:p>
            <a:r>
              <a:t>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06240"/>
            <a:ext cx="91440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JavaScript</a:t>
            </a:r>
          </a:p>
          <a:p>
            <a:r>
              <a:t>(Subscriber)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914400" cy="365760"/>
          </a:xfrm>
          <a:prstGeom prst="rect">
            <a:avLst/>
          </a:prstGeom>
          <a:solidFill>
            <a:srgbClr val="F5576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Subscriber</a:t>
            </a:r>
          </a:p>
          <a:p>
            <a:r>
              <a:t>WASM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2194560"/>
            <a:ext cx="0" cy="54864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" y="2743200"/>
            <a:ext cx="0" cy="54864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5840" y="3291840"/>
            <a:ext cx="0" cy="54864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" y="3840480"/>
            <a:ext cx="0" cy="54864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" y="4389120"/>
            <a:ext cx="0" cy="548639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" y="4937760"/>
            <a:ext cx="0" cy="54864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" y="2286000"/>
            <a:ext cx="2103120" cy="0"/>
          </a:xfrm>
          <a:prstGeom prst="line">
            <a:avLst/>
          </a:prstGeom>
          <a:ln w="1905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71600" y="219456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generateMessage()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97280" y="2606040"/>
            <a:ext cx="210312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71600" y="251460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publish(topic, message)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7280" y="2926080"/>
            <a:ext cx="2103120" cy="0"/>
          </a:xfrm>
          <a:prstGeom prst="line">
            <a:avLst/>
          </a:prstGeom>
          <a:ln w="19050">
            <a:solidFill>
              <a:srgbClr val="FFC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71600" y="283464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ROS2 DDS publish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097280" y="3246120"/>
            <a:ext cx="2103120" cy="0"/>
          </a:xfrm>
          <a:prstGeom prst="line">
            <a:avLst/>
          </a:prstGeom>
          <a:ln w="1905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71600" y="3154679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message delivery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97280" y="3566160"/>
            <a:ext cx="210312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71600" y="347472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message callback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97280" y="3886200"/>
            <a:ext cx="2103120" cy="0"/>
          </a:xfrm>
          <a:prstGeom prst="line">
            <a:avLst/>
          </a:prstGeom>
          <a:ln w="19050">
            <a:solidFill>
              <a:srgbClr val="F557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71600" y="379476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processMessage(data)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011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</a:defRPr>
            </a:pPr>
            <a:r>
              <a:t>Loop: Every second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Kubernetes Cluster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2286000"/>
            <a:ext cx="1463040" cy="914400"/>
          </a:xfrm>
          <a:prstGeom prst="rect">
            <a:avLst/>
          </a:prstGeom>
          <a:solidFill>
            <a:srgbClr val="C8DC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K8s Pod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2560320"/>
            <a:ext cx="1097280" cy="32004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WASM Runtime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926080"/>
            <a:ext cx="109728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microROS Node 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2286000"/>
            <a:ext cx="1463040" cy="914400"/>
          </a:xfrm>
          <a:prstGeom prst="rect">
            <a:avLst/>
          </a:prstGeom>
          <a:solidFill>
            <a:srgbClr val="C8DC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K8s Pod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2560320"/>
            <a:ext cx="1097280" cy="32004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WASM Runtime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2926080"/>
            <a:ext cx="109728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microROS Node 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66560" y="3108960"/>
            <a:ext cx="182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0" y="3200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ROS Topics/Services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657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/>
            </a:pPr>
            <a:r>
              <a:t>K8s manages: Deployment • Scaling • Health Checks •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Feasibility: Can We Run microROS in WASM?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/>
            </a:pPr>
            <a:r>
              <a:t>Technical Challenges</a:t>
            </a:r>
          </a:p>
          <a:p>
            <a:pPr>
              <a:spcAft>
                <a:spcPts val="400"/>
              </a:spcAft>
              <a:defRPr sz="1800" b="1"/>
            </a:pPr>
            <a:r>
              <a:t>1. System Calls &amp; I/O</a:t>
            </a:r>
          </a:p>
          <a:p>
            <a:pPr>
              <a:spcAft>
                <a:spcPts val="1000"/>
              </a:spcAft>
              <a:defRPr sz="1400"/>
            </a:pPr>
            <a:r>
              <a:t>   WASM limited access → WASI/host bindings</a:t>
            </a:r>
          </a:p>
          <a:p>
            <a:pPr>
              <a:spcAft>
                <a:spcPts val="400"/>
              </a:spcAft>
              <a:defRPr sz="1800" b="1"/>
            </a:pPr>
            <a:r>
              <a:t>2. Real-time Constraints</a:t>
            </a:r>
          </a:p>
          <a:p>
            <a:pPr>
              <a:spcAft>
                <a:spcPts val="1000"/>
              </a:spcAft>
              <a:defRPr sz="1400"/>
            </a:pPr>
            <a:r>
              <a:t>   Deterministic timing → WASM &lt;1ms latency</a:t>
            </a:r>
          </a:p>
          <a:p>
            <a:pPr>
              <a:spcAft>
                <a:spcPts val="400"/>
              </a:spcAft>
              <a:defRPr sz="1800" b="1"/>
            </a:pPr>
            <a:r>
              <a:t>3. Memory Management</a:t>
            </a:r>
          </a:p>
          <a:p>
            <a:pPr>
              <a:defRPr sz="1400"/>
            </a:pPr>
            <a:r>
              <a:t>   Linear memory → Compatible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/>
            </a:pPr>
            <a:r>
              <a:t>Assessment Results</a:t>
            </a:r>
          </a:p>
          <a:p>
            <a:pPr>
              <a:spcAft>
                <a:spcPts val="1400"/>
              </a:spcAft>
              <a:defRPr sz="2400" b="1">
                <a:solidFill>
                  <a:srgbClr val="009900"/>
                </a:solidFill>
              </a:defRPr>
            </a:pPr>
            <a:r>
              <a:t>FEASIBILITY: HIGH</a:t>
            </a:r>
          </a:p>
          <a:p>
            <a:pPr>
              <a:spcAft>
                <a:spcPts val="600"/>
              </a:spcAft>
              <a:defRPr sz="1600"/>
            </a:pPr>
            <a:r>
              <a:t>✓ Core microROS: Compatible</a:t>
            </a:r>
          </a:p>
          <a:p>
            <a:pPr>
              <a:spcAft>
                <a:spcPts val="600"/>
              </a:spcAft>
              <a:defRPr sz="1600"/>
            </a:pPr>
            <a:r>
              <a:t>✓ ROS2 DDS: Portable to WASM</a:t>
            </a:r>
          </a:p>
          <a:p>
            <a:pPr>
              <a:spcAft>
                <a:spcPts val="600"/>
              </a:spcAft>
              <a:defRPr sz="1600"/>
            </a:pPr>
            <a:r>
              <a:t>✓ Pub/Sub: Demonstrated</a:t>
            </a:r>
          </a:p>
          <a:p>
            <a:pPr>
              <a:spcAft>
                <a:spcPts val="600"/>
              </a:spcAft>
              <a:defRPr sz="1600"/>
            </a:pPr>
            <a:r>
              <a:t>✓ Memory: Lightweight (&lt;100KB)</a:t>
            </a:r>
          </a:p>
          <a:p>
            <a:pPr>
              <a:spcAft>
                <a:spcPts val="1400"/>
              </a:spcAft>
              <a:defRPr sz="1600"/>
            </a:pPr>
            <a:r>
              <a:t>✓ Performance: Near-native</a:t>
            </a:r>
          </a:p>
          <a:p>
            <a:pPr>
              <a:spcAft>
                <a:spcPts val="800"/>
              </a:spcAft>
              <a:defRPr sz="2000" b="1"/>
            </a:pPr>
            <a:r>
              <a:t>Next Steps</a:t>
            </a:r>
          </a:p>
          <a:p>
            <a:pPr>
              <a:spcAft>
                <a:spcPts val="400"/>
              </a:spcAft>
              <a:defRPr sz="1500"/>
            </a:pPr>
            <a:r>
              <a:t>• Port microROS to WASM</a:t>
            </a:r>
          </a:p>
          <a:p>
            <a:pPr>
              <a:spcAft>
                <a:spcPts val="400"/>
              </a:spcAft>
              <a:defRPr sz="1500"/>
            </a:pPr>
            <a:r>
              <a:t>• Implement ROS2 DDS layer</a:t>
            </a:r>
          </a:p>
          <a:p>
            <a:pPr>
              <a:defRPr sz="1500"/>
            </a:pPr>
            <a:r>
              <a:t>• Deploy on K8s (Wasmtime)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