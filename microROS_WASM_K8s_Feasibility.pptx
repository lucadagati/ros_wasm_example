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003366"/>
                </a:solidFill>
              </a:defRPr>
            </a:pPr>
            <a:r>
              <a:t>Operational Technology on Kubernetes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200" b="1"/>
            </a:pPr>
            <a:r>
              <a:t>OT Infrastructure</a:t>
            </a:r>
          </a:p>
          <a:p>
            <a:pPr>
              <a:spcAft>
                <a:spcPts val="400"/>
              </a:spcAft>
              <a:defRPr sz="1600"/>
            </a:pPr>
            <a:r>
              <a:t>• Industrial control systems</a:t>
            </a:r>
          </a:p>
          <a:p>
            <a:pPr>
              <a:spcAft>
                <a:spcPts val="400"/>
              </a:spcAft>
              <a:defRPr sz="1600"/>
            </a:pPr>
            <a:r>
              <a:t>• Real-time data processing</a:t>
            </a:r>
          </a:p>
          <a:p>
            <a:pPr>
              <a:spcAft>
                <a:spcPts val="1600"/>
              </a:spcAft>
              <a:defRPr sz="1600"/>
            </a:pPr>
            <a:r>
              <a:t>• Distributed sensor networks</a:t>
            </a:r>
          </a:p>
          <a:p>
            <a:pPr>
              <a:spcAft>
                <a:spcPts val="1000"/>
              </a:spcAft>
              <a:defRPr sz="2200" b="1"/>
            </a:pPr>
            <a:r>
              <a:t>Kubernetes Orchestration</a:t>
            </a:r>
          </a:p>
          <a:p>
            <a:pPr>
              <a:spcAft>
                <a:spcPts val="400"/>
              </a:spcAft>
              <a:defRPr sz="1600"/>
            </a:pPr>
            <a:r>
              <a:t>• Container orchestration</a:t>
            </a:r>
          </a:p>
          <a:p>
            <a:pPr>
              <a:spcAft>
                <a:spcPts val="400"/>
              </a:spcAft>
              <a:defRPr sz="1600"/>
            </a:pPr>
            <a:r>
              <a:t>• Scalable microservices</a:t>
            </a:r>
          </a:p>
          <a:p>
            <a:pPr>
              <a:defRPr sz="1600"/>
            </a:pPr>
            <a:r>
              <a:t>• High availability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0" y="182880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400" b="1">
                <a:solidFill>
                  <a:srgbClr val="006633"/>
                </a:solidFill>
              </a:defRPr>
            </a:pPr>
            <a:r>
              <a:t>Project Goal</a:t>
            </a:r>
          </a:p>
          <a:p>
            <a:pPr>
              <a:spcAft>
                <a:spcPts val="1600"/>
              </a:spcAft>
              <a:defRPr sz="1800" b="1"/>
            </a:pPr>
            <a:r>
              <a:t>Run microROS inside WebAssembly runtime</a:t>
            </a:r>
          </a:p>
          <a:p>
            <a:pPr>
              <a:spcAft>
                <a:spcPts val="1000"/>
              </a:spcAft>
              <a:defRPr sz="2000" b="1"/>
            </a:pPr>
            <a:r>
              <a:t>Key Benefits</a:t>
            </a:r>
          </a:p>
          <a:p>
            <a:pPr>
              <a:spcAft>
                <a:spcPts val="600"/>
              </a:spcAft>
              <a:defRPr sz="1600"/>
            </a:pPr>
            <a:r>
              <a:t>✓ Lightweight &amp; Portable</a:t>
            </a:r>
          </a:p>
          <a:p>
            <a:pPr>
              <a:spcAft>
                <a:spcPts val="600"/>
              </a:spcAft>
              <a:defRPr sz="1600"/>
            </a:pPr>
            <a:r>
              <a:t>✓ Secure sandbox</a:t>
            </a:r>
          </a:p>
          <a:p>
            <a:pPr>
              <a:spcAft>
                <a:spcPts val="600"/>
              </a:spcAft>
              <a:defRPr sz="1600"/>
            </a:pPr>
            <a:r>
              <a:t>✓ Near-native performance</a:t>
            </a:r>
          </a:p>
          <a:p>
            <a:pPr>
              <a:defRPr sz="1600"/>
            </a:pPr>
            <a:r>
              <a:t>✓ K8s orchestration ready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Communication Flow &amp; Kubernetes Architecture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005840" y="2194560"/>
            <a:ext cx="0" cy="548640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005840" y="2743200"/>
            <a:ext cx="0" cy="548640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005840" y="3291840"/>
            <a:ext cx="0" cy="548640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005840" y="3840480"/>
            <a:ext cx="0" cy="548640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1005840" y="4389120"/>
            <a:ext cx="0" cy="548639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1005840" y="4937760"/>
            <a:ext cx="0" cy="548640"/>
          </a:xfrm>
          <a:prstGeom prst="line">
            <a:avLst/>
          </a:prstGeom>
          <a:ln w="12700">
            <a:solidFill>
              <a:srgbClr val="C8C8C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97280" y="2286000"/>
            <a:ext cx="2103120" cy="0"/>
          </a:xfrm>
          <a:prstGeom prst="line">
            <a:avLst/>
          </a:prstGeom>
          <a:ln w="19050">
            <a:solidFill>
              <a:srgbClr val="667E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097280" y="2606040"/>
            <a:ext cx="2103120" cy="0"/>
          </a:xfrm>
          <a:prstGeom prst="line">
            <a:avLst/>
          </a:prstGeom>
          <a:ln w="19050">
            <a:solidFill>
              <a:srgbClr val="4CAF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097280" y="2926080"/>
            <a:ext cx="2103120" cy="0"/>
          </a:xfrm>
          <a:prstGeom prst="line">
            <a:avLst/>
          </a:prstGeom>
          <a:ln w="19050">
            <a:solidFill>
              <a:srgbClr val="FFC10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1097280" y="3246120"/>
            <a:ext cx="2103120" cy="0"/>
          </a:xfrm>
          <a:prstGeom prst="line">
            <a:avLst/>
          </a:prstGeom>
          <a:ln w="19050">
            <a:solidFill>
              <a:srgbClr val="9C27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097280" y="3566160"/>
            <a:ext cx="2103120" cy="0"/>
          </a:xfrm>
          <a:prstGeom prst="line">
            <a:avLst/>
          </a:prstGeom>
          <a:ln w="19050">
            <a:solidFill>
              <a:srgbClr val="4CAF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1097280" y="3886200"/>
            <a:ext cx="2103120" cy="0"/>
          </a:xfrm>
          <a:prstGeom prst="line">
            <a:avLst/>
          </a:prstGeom>
          <a:ln w="19050">
            <a:solidFill>
              <a:srgbClr val="F5576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6766560" y="3108960"/>
            <a:ext cx="182880" cy="0"/>
          </a:xfrm>
          <a:prstGeom prst="line">
            <a:avLst/>
          </a:prstGeom>
          <a:ln w="1905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6" name="Picture 35" descr="architectur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45920"/>
            <a:ext cx="4114800" cy="2743200"/>
          </a:xfrm>
          <a:prstGeom prst="rect">
            <a:avLst/>
          </a:prstGeom>
        </p:spPr>
      </p:pic>
      <p:pic>
        <p:nvPicPr>
          <p:cNvPr id="37" name="Picture 36" descr="sequence_diagr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1645920"/>
            <a:ext cx="411480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003366"/>
                </a:solidFill>
              </a:defRPr>
            </a:pPr>
            <a:r>
              <a:t>Feasibility: Can We Run microROS in WASM?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1"/>
            </a:pPr>
            <a:r>
              <a:t>Technical Challenges</a:t>
            </a:r>
          </a:p>
          <a:p>
            <a:pPr>
              <a:spcAft>
                <a:spcPts val="400"/>
              </a:spcAft>
              <a:defRPr sz="1800" b="1"/>
            </a:pPr>
            <a:r>
              <a:t>1. System Calls &amp; I/O</a:t>
            </a:r>
          </a:p>
          <a:p>
            <a:pPr>
              <a:spcAft>
                <a:spcPts val="1000"/>
              </a:spcAft>
              <a:defRPr sz="1400"/>
            </a:pPr>
            <a:r>
              <a:t>   WASM limited access → WASI/host bindings</a:t>
            </a:r>
          </a:p>
          <a:p>
            <a:pPr>
              <a:spcAft>
                <a:spcPts val="400"/>
              </a:spcAft>
              <a:defRPr sz="1800" b="1"/>
            </a:pPr>
            <a:r>
              <a:t>2. Real-time Constraints</a:t>
            </a:r>
          </a:p>
          <a:p>
            <a:pPr>
              <a:spcAft>
                <a:spcPts val="1000"/>
              </a:spcAft>
              <a:defRPr sz="1400"/>
            </a:pPr>
            <a:r>
              <a:t>   Deterministic timing → WASM &lt;1ms latency</a:t>
            </a:r>
          </a:p>
          <a:p>
            <a:pPr>
              <a:spcAft>
                <a:spcPts val="400"/>
              </a:spcAft>
              <a:defRPr sz="1800" b="1"/>
            </a:pPr>
            <a:r>
              <a:t>3. Memory Management</a:t>
            </a:r>
          </a:p>
          <a:p>
            <a:pPr>
              <a:defRPr sz="1400"/>
            </a:pPr>
            <a:r>
              <a:t>   Linear memory → Compatible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0" y="182880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2200" b="1"/>
            </a:pPr>
            <a:r>
              <a:t>Assessment Results</a:t>
            </a:r>
          </a:p>
          <a:p>
            <a:pPr>
              <a:spcAft>
                <a:spcPts val="1400"/>
              </a:spcAft>
              <a:defRPr sz="2400" b="1">
                <a:solidFill>
                  <a:srgbClr val="009900"/>
                </a:solidFill>
              </a:defRPr>
            </a:pPr>
            <a:r>
              <a:t>FEASIBILITY: HIGH</a:t>
            </a:r>
          </a:p>
          <a:p>
            <a:pPr>
              <a:spcAft>
                <a:spcPts val="600"/>
              </a:spcAft>
              <a:defRPr sz="1600"/>
            </a:pPr>
            <a:r>
              <a:t>✓ Core microROS: Compatible</a:t>
            </a:r>
          </a:p>
          <a:p>
            <a:pPr>
              <a:spcAft>
                <a:spcPts val="600"/>
              </a:spcAft>
              <a:defRPr sz="1600"/>
            </a:pPr>
            <a:r>
              <a:t>✓ ROS2 DDS: Portable to WASM</a:t>
            </a:r>
          </a:p>
          <a:p>
            <a:pPr>
              <a:spcAft>
                <a:spcPts val="600"/>
              </a:spcAft>
              <a:defRPr sz="1600"/>
            </a:pPr>
            <a:r>
              <a:t>✓ Pub/Sub: Demonstrated</a:t>
            </a:r>
          </a:p>
          <a:p>
            <a:pPr>
              <a:spcAft>
                <a:spcPts val="600"/>
              </a:spcAft>
              <a:defRPr sz="1600"/>
            </a:pPr>
            <a:r>
              <a:t>✓ Memory: Lightweight (&lt;100KB)</a:t>
            </a:r>
          </a:p>
          <a:p>
            <a:pPr>
              <a:spcAft>
                <a:spcPts val="1400"/>
              </a:spcAft>
              <a:defRPr sz="1600"/>
            </a:pPr>
            <a:r>
              <a:t>✓ Performance: Near-native</a:t>
            </a:r>
          </a:p>
          <a:p>
            <a:pPr>
              <a:spcAft>
                <a:spcPts val="800"/>
              </a:spcAft>
              <a:defRPr sz="2000" b="1"/>
            </a:pPr>
            <a:r>
              <a:t>Next Steps</a:t>
            </a:r>
          </a:p>
          <a:p>
            <a:pPr>
              <a:spcAft>
                <a:spcPts val="400"/>
              </a:spcAft>
              <a:defRPr sz="1500"/>
            </a:pPr>
            <a:r>
              <a:t>• Port microROS to WASM</a:t>
            </a:r>
          </a:p>
          <a:p>
            <a:pPr>
              <a:spcAft>
                <a:spcPts val="400"/>
              </a:spcAft>
              <a:defRPr sz="1500"/>
            </a:pPr>
            <a:r>
              <a:t>• Implement ROS2 DDS layer</a:t>
            </a:r>
          </a:p>
          <a:p>
            <a:pPr>
              <a:defRPr sz="1500"/>
            </a:pPr>
            <a:r>
              <a:t>• Deploy on K8s (Wasmtime)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003366"/>
                </a:solidFill>
              </a:defRPr>
            </a:pPr>
            <a:r>
              <a:t>Kubernetes Deployment Architecture</a:t>
            </a:r>
          </a:p>
        </p:txBody>
      </p:sp>
      <p:pic>
        <p:nvPicPr>
          <p:cNvPr id="3" name="Picture 2" descr="k8s_deployment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645920"/>
            <a:ext cx="8229600" cy="50292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